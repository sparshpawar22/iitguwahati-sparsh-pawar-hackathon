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1109167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>
                <a:solidFill>
                  <a:srgbClr val="2ECC71"/>
                </a:solidFill>
                <a:latin typeface="Consolas"/>
              </a:rPr>
              <a:t>● </a:t>
            </a:r>
            <a:r>
              <a:rPr sz="6200" b="1">
                <a:solidFill>
                  <a:srgbClr val="F7B733"/>
                </a:solidFill>
                <a:latin typeface="Consolas"/>
              </a:rPr>
              <a:t>WAR ROOM</a:t>
            </a:r>
          </a:p>
          <a:p>
            <a:pPr algn="ctr">
              <a:spcAft>
                <a:spcPts val="1000"/>
              </a:spcAft>
            </a:pPr>
            <a:r>
              <a:rPr sz="1700" b="1">
                <a:solidFill>
                  <a:srgbClr val="7A8794"/>
                </a:solidFill>
                <a:latin typeface="Segoe UI"/>
              </a:rPr>
              <a:t>AN EVENT-DRIVEN NLP RISK ENGINE FOR WHOLESALE PORTFOLIO STRESS TESTING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E8E2D9"/>
                </a:solidFill>
                <a:latin typeface="Segoe UI"/>
              </a:rPr>
              <a:t>Sparsh Pawar  ·  IIT Guwahati</a:t>
            </a: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7A8794"/>
                </a:solidFill>
                <a:latin typeface="Segoe UI"/>
              </a:rPr>
              <a:t>S&amp;P Global &amp; Crisil Campus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44068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55955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A8794"/>
                </a:solidFill>
                <a:latin typeface="Consolas"/>
              </a:rPr>
              <a:t>MKT -0.95 ▼   </a:t>
            </a:r>
            <a:r>
              <a:rPr sz="1200" b="1">
                <a:solidFill>
                  <a:srgbClr val="F7B733"/>
                </a:solidFill>
                <a:latin typeface="Consolas"/>
              </a:rPr>
              <a:t>IMP 10.0    </a:t>
            </a:r>
            <a:r>
              <a:rPr sz="1200" b="1">
                <a:solidFill>
                  <a:srgbClr val="FF4B4B"/>
                </a:solidFill>
                <a:latin typeface="Consolas"/>
              </a:rPr>
              <a:t>AAPL -0.79 ▼   </a:t>
            </a:r>
            <a:r>
              <a:rPr sz="1200" b="1">
                <a:solidFill>
                  <a:srgbClr val="F7B733"/>
                </a:solidFill>
                <a:latin typeface="Consolas"/>
              </a:rPr>
              <a:t>IMP 6.3     </a:t>
            </a:r>
            <a:r>
              <a:rPr sz="1200" b="1">
                <a:solidFill>
                  <a:srgbClr val="2ECC71"/>
                </a:solidFill>
                <a:latin typeface="Consolas"/>
              </a:rPr>
              <a:t>JPM +0.41 ▲   </a:t>
            </a:r>
            <a:r>
              <a:rPr sz="1200" b="1">
                <a:solidFill>
                  <a:srgbClr val="F7B733"/>
                </a:solidFill>
                <a:latin typeface="Consolas"/>
              </a:rPr>
              <a:t>IMP 4.9     </a:t>
            </a:r>
            <a:r>
              <a:rPr sz="1200" b="1">
                <a:solidFill>
                  <a:srgbClr val="FF4B4B"/>
                </a:solidFill>
                <a:latin typeface="Consolas"/>
              </a:rPr>
              <a:t>MKT -0.86 ▼   </a:t>
            </a:r>
            <a:r>
              <a:rPr sz="1200" b="1">
                <a:solidFill>
                  <a:srgbClr val="F7B733"/>
                </a:solidFill>
                <a:latin typeface="Consolas"/>
              </a:rPr>
              <a:t>IMP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8794"/>
                </a:solidFill>
                <a:latin typeface="Consolas"/>
              </a:rPr>
              <a:t>WAR ROOM · S&amp;P Global &amp; Crisil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7A8794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7B733"/>
                </a:solidFill>
                <a:latin typeface="Consolas"/>
              </a:rPr>
              <a:t>PROBLEM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8794"/>
                </a:solidFill>
                <a:latin typeface="Consolas"/>
              </a:rPr>
              <a:t>WAR ROOM · S&amp;P Global &amp; Crisil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7A8794"/>
                </a:solidFill>
                <a:latin typeface="Consola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E2D9"/>
                </a:solidFill>
                <a:latin typeface="Segoe UI"/>
              </a:rPr>
              <a:t>"Regional bank defaults on commercial paper… contagion fears grip the sector"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7A8794"/>
                </a:solidFill>
                <a:latin typeface="Consolas"/>
              </a:rPr>
              <a:t>unstructured wire — 08:14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42032"/>
            <a:ext cx="5852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4B4B"/>
                </a:solidFill>
                <a:latin typeface="Segoe UI"/>
              </a:rPr>
              <a:t>▼</a:t>
            </a:r>
            <a:r>
              <a:rPr sz="1300" b="0">
                <a:solidFill>
                  <a:srgbClr val="7A8794"/>
                </a:solidFill>
                <a:latin typeface="Segoe UI"/>
              </a:rPr>
              <a:t>   manual reading · judgment · spreadsheets ·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4612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FF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4B4B"/>
                </a:solidFill>
                <a:latin typeface="Consolas"/>
              </a:rPr>
              <a:t>PORTFOLIO EXPOSURE:  ???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7A8794"/>
                </a:solidFill>
                <a:latin typeface="Segoe UI"/>
              </a:rPr>
              <a:t>the number risk systems need — buried in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5852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7A8794"/>
                </a:solidFill>
                <a:latin typeface="Segoe UI"/>
              </a:rPr>
              <a:t>The bridge between text and risk numbers is manual, slow,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7A8794"/>
                </a:solidFill>
                <a:latin typeface="Segoe UI"/>
              </a:rPr>
              <a:t>and inconsistent. WAR ROOM closes it end to 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71600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481328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SENTIMENT  −1 … +1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2D9"/>
                </a:solidFill>
                <a:latin typeface="Segoe UI"/>
              </a:rPr>
              <a:t>FinBERT, dual-benchmark calibrated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395728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05456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EVENT TYPE — 6 classes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2D9"/>
                </a:solidFill>
                <a:latin typeface="Segoe UI"/>
              </a:rPr>
              <a:t>keyword rules → zero-shot NLI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3419856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529584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IMPACT  1–10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2D9"/>
                </a:solidFill>
                <a:latin typeface="Segoe UI"/>
              </a:rPr>
              <a:t>fully explainable formula, no black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4988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A8794"/>
                </a:solidFill>
                <a:latin typeface="Segoe UI"/>
              </a:rPr>
              <a:t>▼  fires automatically when systemic &amp; impact ≥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93776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5084064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CC71"/>
                </a:solidFill>
                <a:latin typeface="Consolas"/>
              </a:rPr>
              <a:t>AUTOMATIC STRESS TEST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E8E2D9"/>
                </a:solidFill>
                <a:latin typeface="Segoe UI"/>
              </a:rPr>
              <a:t>portfolio P&amp;L waterfall within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7B733"/>
                </a:solidFill>
                <a:latin typeface="Consolas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8794"/>
                </a:solidFill>
                <a:latin typeface="Consolas"/>
              </a:rPr>
              <a:t>WAR ROOM · S&amp;P Global &amp; Crisil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7A8794"/>
                </a:solidFill>
                <a:latin typeface="Consolas"/>
              </a:rPr>
              <a:t>03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27080" cy="37401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349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45896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7B733"/>
                </a:solidFill>
                <a:latin typeface="Consolas"/>
              </a:rPr>
              <a:t>①  2 sources → 1 normalized DTO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7A8794"/>
                </a:solidFill>
                <a:latin typeface="Segoe UI"/>
              </a:rPr>
              <a:t>append-only JSONL transport — replayable, crash-safe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5349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545896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7B733"/>
                </a:solidFill>
                <a:latin typeface="Consolas"/>
              </a:rPr>
              <a:t>②  impact ≥ 7 trigger gate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7A8794"/>
                </a:solidFill>
                <a:latin typeface="Segoe UI"/>
              </a:rPr>
              <a:t>3.1% of signals fire — selective by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5349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545896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7B733"/>
                </a:solidFill>
                <a:latin typeface="Consolas"/>
              </a:rPr>
              <a:t>③  file-fallback client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7A8794"/>
                </a:solidFill>
                <a:latin typeface="Segoe UI"/>
              </a:rPr>
              <a:t>dashboard degrades gracefully if the API dies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7B733"/>
                </a:solidFill>
                <a:latin typeface="Consolas"/>
              </a:rP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8794"/>
                </a:solidFill>
                <a:latin typeface="Consolas"/>
              </a:rPr>
              <a:t>WAR ROOM · S&amp;P Global &amp; Crisil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7A8794"/>
                </a:solidFill>
                <a:latin typeface="Consola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FinBERT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E8E2D9"/>
                </a:solidFill>
                <a:latin typeface="Segoe UI"/>
              </a:rPr>
              <a:t>finance-tuned transformer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7A8794"/>
                </a:solidFill>
                <a:latin typeface="Segoe UI"/>
              </a:rPr>
              <a:t>sentiment calibrated on 2 labeled benchmarks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72768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HYBRID CLASSIFIER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E8E2D9"/>
                </a:solidFill>
                <a:latin typeface="Segoe UI"/>
              </a:rPr>
              <a:t>deterministic rules first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7A8794"/>
                </a:solidFill>
                <a:latin typeface="Segoe UI"/>
              </a:rPr>
              <a:t>zero-shot NLI fallback · degrades gracefully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716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72768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EXPLAINABLE IMPACT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E8E2D9"/>
                </a:solidFill>
                <a:latin typeface="Segoe UI"/>
              </a:rPr>
              <a:t>every point of 1–10 traces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7A8794"/>
                </a:solidFill>
                <a:latin typeface="Segoe UI"/>
              </a:rPr>
              <a:t>to visible, tunable constants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87368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DATA-DERIVED BOOK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E8E2D9"/>
                </a:solidFill>
                <a:latin typeface="Segoe UI"/>
              </a:rPr>
              <a:t>sector weights from 555,719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7A8794"/>
                </a:solidFill>
                <a:latin typeface="Segoe UI"/>
              </a:rPr>
              <a:t>real transactions (CC0) — not hand-picked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8862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087368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PURE-FN STRESS ENGINE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E8E2D9"/>
                </a:solidFill>
                <a:latin typeface="Segoe UI"/>
              </a:rPr>
              <a:t>7/7 unit tests incl. exact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7A8794"/>
                </a:solidFill>
                <a:latin typeface="Segoe UI"/>
              </a:rPr>
              <a:t>verification of dP = −D·Δy·P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886200"/>
            <a:ext cx="3703320" cy="22402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087368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7B733"/>
                </a:solidFill>
                <a:latin typeface="Consolas"/>
              </a:rPr>
              <a:t>TERMINAL UI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E8E2D9"/>
                </a:solidFill>
                <a:latin typeface="Segoe UI"/>
              </a:rPr>
              <a:t>ticker · severity bands · waterfall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7A8794"/>
                </a:solidFill>
                <a:latin typeface="Segoe UI"/>
              </a:rPr>
              <a:t>built the way a risk desk thinks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7B733"/>
                </a:solidFill>
                <a:latin typeface="Consolas"/>
              </a:rPr>
              <a:t>KEY RESULTS — VALIDATED,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8794"/>
                </a:solidFill>
                <a:latin typeface="Consolas"/>
              </a:rPr>
              <a:t>WAR ROOM · S&amp;P Global &amp; Crisil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7A8794"/>
                </a:solidFill>
                <a:latin typeface="Consola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71600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A8794"/>
                </a:solidFill>
                <a:latin typeface="Segoe UI"/>
              </a:rPr>
              <a:t>SENTIMENT · IN-DIST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F7B733"/>
                </a:solidFill>
                <a:latin typeface="Consolas"/>
              </a:rPr>
              <a:t>0.910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A8794"/>
                </a:solidFill>
                <a:latin typeface="Segoe UI"/>
              </a:rPr>
              <a:t>PhraseBank · vs VADER 0.614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23444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A8794"/>
                </a:solidFill>
                <a:latin typeface="Segoe UI"/>
              </a:rPr>
              <a:t>SENTIMENT · OUT-OF-DIST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F7B733"/>
                </a:solidFill>
                <a:latin typeface="Consolas"/>
              </a:rPr>
              <a:t>0.720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A8794"/>
                </a:solidFill>
                <a:latin typeface="Segoe UI"/>
              </a:rPr>
              <a:t>HF tweets · vs VADER 0.578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9944" y="123444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371600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A8794"/>
                </a:solidFill>
                <a:latin typeface="Segoe UI"/>
              </a:rPr>
              <a:t>STRESSABLE RECALL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2ECC71"/>
                </a:solidFill>
                <a:latin typeface="Consolas"/>
              </a:rPr>
              <a:t>0.889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A8794"/>
                </a:solidFill>
                <a:latin typeface="Segoe UI"/>
              </a:rPr>
              <a:t>9 of 10 systemic events caught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6" y="1234440"/>
            <a:ext cx="2743200" cy="178308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4624" y="1371600"/>
            <a:ext cx="2377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7A8794"/>
                </a:solidFill>
                <a:latin typeface="Segoe UI"/>
              </a:rPr>
              <a:t>TRIGGER RATE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E8E2D9"/>
                </a:solidFill>
                <a:latin typeface="Consolas"/>
              </a:rPr>
              <a:t>3.1%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7A8794"/>
                </a:solidFill>
                <a:latin typeface="Segoe UI"/>
              </a:rPr>
              <a:t>of live signals — selective</a:t>
            </a:r>
          </a:p>
        </p:txBody>
      </p:sp>
      <p:pic>
        <p:nvPicPr>
          <p:cNvPr id="14" name="Picture 13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46120"/>
            <a:ext cx="5806440" cy="25806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37960" y="3246120"/>
            <a:ext cx="5166360" cy="237744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FF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3474720"/>
            <a:ext cx="4617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4B4B"/>
                </a:solidFill>
                <a:latin typeface="Consolas"/>
              </a:rPr>
              <a:t>SVB: engine 9.1 → market −16%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FF4B4B"/>
                </a:solidFill>
                <a:latin typeface="Consolas"/>
              </a:rPr>
              <a:t>NVDA: engine 3.2 → stock +24%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8E2D9"/>
                </a:solidFill>
                <a:latin typeface="Segoe UI"/>
              </a:rPr>
              <a:t>the score prices systemic risk,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8E2D9"/>
                </a:solidFill>
                <a:latin typeface="Segoe UI"/>
              </a:rPr>
              <a:t>not single-stock headlines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7A8794"/>
                </a:solidFill>
                <a:latin typeface="Segoe UI"/>
              </a:rPr>
              <a:t>7/7 stress-engine unit tests · confusion matrices in results/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7B733"/>
                </a:solidFill>
                <a:latin typeface="Consolas"/>
              </a:rPr>
              <a:t>DOMAIN IMPACT — HOURS TO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8794"/>
                </a:solidFill>
                <a:latin typeface="Consolas"/>
              </a:rPr>
              <a:t>WAR ROOM · S&amp;P Global &amp; Crisil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7A8794"/>
                </a:solidFill>
                <a:latin typeface="Consola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760720" cy="96012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7A8794"/>
                </a:solidFill>
                <a:latin typeface="Segoe UI"/>
              </a:rPr>
              <a:t>TODAY (manual)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7A8794"/>
                </a:solidFill>
                <a:latin typeface="Consolas"/>
              </a:rPr>
              <a:t>headline 08:14 → analyst reads → meeting 11:00 → exposure 13:30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5760720" cy="96012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5303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7B733"/>
                </a:solidFill>
                <a:latin typeface="Segoe UI"/>
              </a:rPr>
              <a:t>WITH WAR ROOM (automated)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7B733"/>
                </a:solidFill>
                <a:latin typeface="Consolas"/>
              </a:rPr>
              <a:t>headline 08:14 → signals 08:14:12 → stress report 08:14:30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03320"/>
            <a:ext cx="5760720" cy="749808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94759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CC71"/>
                </a:solidFill>
                <a:latin typeface="Segoe UI"/>
              </a:rPr>
              <a:t>▪ </a:t>
            </a:r>
            <a:r>
              <a:rPr sz="1250" b="1">
                <a:solidFill>
                  <a:srgbClr val="E8E2D9"/>
                </a:solidFill>
                <a:latin typeface="Segoe UI"/>
              </a:rPr>
              <a:t>idiosyncratic ≠ systemic</a:t>
            </a:r>
            <a:r>
              <a:rPr sz="1100" b="0">
                <a:solidFill>
                  <a:srgbClr val="7A8794"/>
                </a:solidFill>
                <a:latin typeface="Segoe UI"/>
              </a:rPr>
              <a:t>   NVDA +24% stock → impact 3.2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760720" cy="749808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CC71"/>
                </a:solidFill>
                <a:latin typeface="Segoe UI"/>
              </a:rPr>
              <a:t>▪ </a:t>
            </a:r>
            <a:r>
              <a:rPr sz="1250" b="1">
                <a:solidFill>
                  <a:srgbClr val="E8E2D9"/>
                </a:solidFill>
                <a:latin typeface="Segoe UI"/>
              </a:rPr>
              <a:t>concentration from data</a:t>
            </a:r>
            <a:r>
              <a:rPr sz="1100" b="0">
                <a:solidFill>
                  <a:srgbClr val="7A8794"/>
                </a:solidFill>
                <a:latin typeface="Segoe UI"/>
              </a:rPr>
              <a:t>   Consumer + Financials flagged, not assumed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79"/>
            <a:ext cx="5760720" cy="749808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32119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CC71"/>
                </a:solidFill>
                <a:latin typeface="Segoe UI"/>
              </a:rPr>
              <a:t>▪ </a:t>
            </a:r>
            <a:r>
              <a:rPr sz="1250" b="1">
                <a:solidFill>
                  <a:srgbClr val="E8E2D9"/>
                </a:solidFill>
                <a:latin typeface="Segoe UI"/>
              </a:rPr>
              <a:t>hedges show gains</a:t>
            </a:r>
            <a:r>
              <a:rPr sz="1100" b="0">
                <a:solidFill>
                  <a:srgbClr val="7A8794"/>
                </a:solidFill>
                <a:latin typeface="Segoe UI"/>
              </a:rPr>
              <a:t>   FX forwards +8.5 under geopolitical shock</a:t>
            </a:r>
          </a:p>
        </p:txBody>
      </p:sp>
      <p:pic>
        <p:nvPicPr>
          <p:cNvPr id="16" name="Picture 15" descr="dashboard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71600"/>
            <a:ext cx="5166360" cy="290607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7960" y="562356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7A8794"/>
                </a:solidFill>
                <a:latin typeface="Consolas"/>
              </a:rPr>
              <a:t>live console — the book tab (screenshot)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7B733"/>
                </a:solidFill>
                <a:latin typeface="Consolas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8794"/>
                </a:solidFill>
                <a:latin typeface="Consolas"/>
              </a:rPr>
              <a:t>WAR ROOM · S&amp;P Global &amp; Crisil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7A8794"/>
                </a:solidFill>
                <a:latin typeface="Consola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77840" cy="416052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7A8794"/>
                </a:solidFill>
                <a:latin typeface="Consolas"/>
              </a:rPr>
              <a:t>KNOWN LIMITATIONS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Headline-level NLP — feeds give summaries, not full articles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Backtest n=5 — directional validation, not statistics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Golden set n=37 — adequate, not large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Static models — real-time labels don't exist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5875">
            <a:solidFill>
              <a:srgbClr val="F7B7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0876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7B733"/>
                </a:solidFill>
                <a:latin typeface="Consolas"/>
              </a:rPr>
              <a:t>NEXT STEPS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Full-article context &amp; longer inputs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Scale the historical event library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Grow golden set to 100+ (labeling tool exists)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E8E2D9"/>
                </a:solidFill>
                <a:latin typeface="Segoe UI"/>
              </a:rPr>
              <a:t>•  Feedback loop: signals vs realized moves → recalibration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7B733"/>
                </a:solidFill>
                <a:latin typeface="Segoe UI"/>
              </a:rPr>
              <a:t>The hooks for learning are already in the schema.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4476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● </a:t>
            </a:r>
            <a:r>
              <a:rPr sz="1300" b="1">
                <a:solidFill>
                  <a:srgbClr val="F7B733"/>
                </a:solidFill>
                <a:latin typeface="Consolas"/>
              </a:rPr>
              <a:t>WAR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